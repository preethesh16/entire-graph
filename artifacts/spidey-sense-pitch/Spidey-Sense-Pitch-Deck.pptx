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">
    <p:bg>
      <p:bgPr>
        <a:solidFill>
          <a:srgbClr val="05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7620">
            <a:solidFill>
              <a:srgbClr val="2025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240" kern="0" dirty="0">
                <a:solidFill>
                  <a:srgbClr val="748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SPIDEY SENSE  /  GRAPH INTELLIGENCE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92640" y="11887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spc="21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NOT ORACLE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3246120"/>
            <a:ext cx="2011680" cy="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21240" y="3246120"/>
            <a:ext cx="1422473" cy="1422473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3246120"/>
            <a:ext cx="0" cy="201168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3246120"/>
            <a:ext cx="-1422473" cy="1422473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3246120"/>
            <a:ext cx="-2011680" cy="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3246120"/>
            <a:ext cx="-1422473" cy="-1422473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3246120"/>
            <a:ext cx="0" cy="-201168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3246120"/>
            <a:ext cx="1422473" cy="-1422473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17736" y="2642616"/>
            <a:ext cx="1207008" cy="1207008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14816" y="2139696"/>
            <a:ext cx="2212848" cy="2212848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1896" y="1636776"/>
            <a:ext cx="3218688" cy="3218688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234440"/>
            <a:ext cx="4023360" cy="4023360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56648" y="3081528"/>
            <a:ext cx="329184" cy="329184"/>
          </a:xfrm>
          <a:prstGeom prst="ellipse">
            <a:avLst/>
          </a:prstGeom>
          <a:solidFill>
            <a:srgbClr val="70D6AF"/>
          </a:solidFill>
          <a:ln w="12700">
            <a:solidFill>
              <a:srgbClr val="70D6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PRESENTS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94360" y="12344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 the collision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594360" y="187452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it lands.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621792" y="2788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Spidey Sense combines live team presence with truthful repository intelligence—so agents coordinate before changes collide.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416052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87C7FF">
              <a:alpha val="12000"/>
            </a:srgbClr>
          </a:solidFill>
          <a:ln w="8890">
            <a:solidFill>
              <a:srgbClr val="87C7FF">
                <a:alpha val="6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18795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BROWSER-FIRST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084832" y="4160520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70D6AF">
              <a:alpha val="12000"/>
            </a:srgbClr>
          </a:solidFill>
          <a:ln w="8890">
            <a:solidFill>
              <a:srgbClr val="70D6AF">
                <a:alpha val="6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7984" y="4187952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NO-EGRESS GRAPH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3803904" y="416052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E8C273">
              <a:alpha val="12000"/>
            </a:srgbClr>
          </a:solidFill>
          <a:ln w="8890">
            <a:solidFill>
              <a:srgbClr val="E8C273">
                <a:alpha val="6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418795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BUILT IN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621792" y="50749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IS EVIDENCE, NOT AN ORACLE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Spidey Sense  •  Production pitch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COORDINATION BLIND SPOT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move fast. Context does not.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teams have three fragmented truths—and collisions happen in the gaps.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2487168"/>
            <a:ext cx="3401568" cy="205740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70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7238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intent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935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the mission? What outcome is expected?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2487168"/>
            <a:ext cx="3401568" cy="205740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670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0288" y="307238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activity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35935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online? Which task is active or blocked?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6448" y="2487168"/>
            <a:ext cx="3401568" cy="205740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2670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57616" y="307238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structure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35935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files and symbols are actually connected?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43000" y="5074920"/>
            <a:ext cx="9875520" cy="0"/>
          </a:xfrm>
          <a:prstGeom prst="line">
            <a:avLst/>
          </a:prstGeom>
          <a:noFill/>
          <a:ln w="15240">
            <a:solidFill>
              <a:srgbClr val="FF5E7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97280" y="52578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static dependency graph alone cannot see runtime dispatch, generated code, reflection—or team intent.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coordination loop. Four decisive moments.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surface shares the same live plan and the same evidence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01952" y="3154680"/>
            <a:ext cx="1783080" cy="0"/>
          </a:xfrm>
          <a:prstGeom prst="line">
            <a:avLst/>
          </a:prstGeom>
          <a:noFill/>
          <a:ln w="17780">
            <a:solidFill>
              <a:srgbClr val="29302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87552" y="2852928"/>
            <a:ext cx="566928" cy="566928"/>
          </a:xfrm>
          <a:prstGeom prst="ellipse">
            <a:avLst/>
          </a:prstGeom>
          <a:solidFill>
            <a:srgbClr val="87C7FF">
              <a:alpha val="9000"/>
            </a:srgbClr>
          </a:solidFill>
          <a:ln w="13970">
            <a:solidFill>
              <a:srgbClr val="87C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35112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76072" y="39136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teammates in-browser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99432" y="3154680"/>
            <a:ext cx="1783080" cy="0"/>
          </a:xfrm>
          <a:prstGeom prst="line">
            <a:avLst/>
          </a:prstGeom>
          <a:noFill/>
          <a:ln w="17780">
            <a:solidFill>
              <a:srgbClr val="29302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85032" y="2852928"/>
            <a:ext cx="566928" cy="566928"/>
          </a:xfrm>
          <a:prstGeom prst="ellipse">
            <a:avLst/>
          </a:prstGeom>
          <a:solidFill>
            <a:srgbClr val="70D6AF">
              <a:alpha val="9000"/>
            </a:srgbClr>
          </a:solidFill>
          <a:ln w="13970">
            <a:solidFill>
              <a:srgbClr val="70D6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64992" y="35112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73552" y="39136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 mission +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96912" y="3154680"/>
            <a:ext cx="1783080" cy="0"/>
          </a:xfrm>
          <a:prstGeom prst="line">
            <a:avLst/>
          </a:prstGeom>
          <a:noFill/>
          <a:ln w="17780">
            <a:solidFill>
              <a:srgbClr val="29302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382512" y="2852928"/>
            <a:ext cx="566928" cy="566928"/>
          </a:xfrm>
          <a:prstGeom prst="ellipse">
            <a:avLst/>
          </a:prstGeom>
          <a:solidFill>
            <a:srgbClr val="BBA0FF">
              <a:alpha val="9000"/>
            </a:srgbClr>
          </a:solidFill>
          <a:ln w="13970">
            <a:solidFill>
              <a:srgbClr val="BBA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BA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62472" y="35112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71032" y="39136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Graph evidence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79992" y="2852928"/>
            <a:ext cx="566928" cy="566928"/>
          </a:xfrm>
          <a:prstGeom prst="ellipse">
            <a:avLst/>
          </a:prstGeom>
          <a:solidFill>
            <a:srgbClr val="E8C273">
              <a:alpha val="9000"/>
            </a:srgbClr>
          </a:solidFill>
          <a:ln w="13970">
            <a:solidFill>
              <a:srgbClr val="E8C2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59952" y="35112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68512" y="39136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source + run tests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0120" y="4800600"/>
            <a:ext cx="10241280" cy="777240"/>
          </a:xfrm>
          <a:prstGeom prst="rect">
            <a:avLst/>
          </a:prstGeom>
          <a:solidFill>
            <a:srgbClr val="080B09"/>
          </a:solidFill>
          <a:ln w="10160">
            <a:solidFill>
              <a:srgbClr val="3140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9926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is not “trust the graph.” It is: here is the evidence class, the caveat, and the safest next verification.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CONNECTION-FIRST EXPERIENCE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teammates. Zero invented identity.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join entirely through the website; browser capability boundaries stay explicit.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9788" y="2208276"/>
            <a:ext cx="5385816" cy="3054096"/>
          </a:xfrm>
          <a:prstGeom prst="rect">
            <a:avLst/>
          </a:prstGeom>
          <a:solidFill>
            <a:srgbClr val="0A0D0B"/>
          </a:solidFill>
          <a:ln w="10160">
            <a:solidFill>
              <a:srgbClr val="303834"/>
            </a:solidFill>
            <a:prstDash val="solid"/>
          </a:ln>
        </p:spPr>
      </p:sp>
      <p:pic>
        <p:nvPicPr>
          <p:cNvPr id="6" name="Image 0" descr="/home/infinity/Projects/Spidey-Sense-Buildathon/artifacts/spidey-sense-pitch/assets/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0280"/>
            <a:ext cx="5321808" cy="29900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04204" y="2208276"/>
            <a:ext cx="5385816" cy="3054096"/>
          </a:xfrm>
          <a:prstGeom prst="rect">
            <a:avLst/>
          </a:prstGeom>
          <a:solidFill>
            <a:srgbClr val="0A0D0B"/>
          </a:solidFill>
          <a:ln w="10160">
            <a:solidFill>
              <a:srgbClr val="303834"/>
            </a:solidFill>
            <a:prstDash val="solid"/>
          </a:ln>
        </p:spPr>
      </p:sp>
      <p:pic>
        <p:nvPicPr>
          <p:cNvPr id="8" name="Image 1" descr="/home/infinity/Projects/Spidey-Sense-Buildathon/artifacts/spidey-sense-pitch/assets/jo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40280"/>
            <a:ext cx="5321808" cy="29900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" y="5468112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70D6AF">
              <a:alpha val="12000"/>
            </a:srgbClr>
          </a:solidFill>
          <a:ln w="8890">
            <a:solidFill>
              <a:srgbClr val="70D6AF">
                <a:alpha val="62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0392" y="549554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INVITE FRAGMENT</a:t>
            </a:r>
            <a:endParaRPr lang="en-US" sz="620" dirty="0"/>
          </a:p>
        </p:txBody>
      </p:sp>
      <p:sp>
        <p:nvSpPr>
          <p:cNvPr id="11" name="Shape 7"/>
          <p:cNvSpPr/>
          <p:nvPr/>
        </p:nvSpPr>
        <p:spPr>
          <a:xfrm>
            <a:off x="2761488" y="5468112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87C7FF">
              <a:alpha val="12000"/>
            </a:srgbClr>
          </a:solidFill>
          <a:ln w="8890">
            <a:solidFill>
              <a:srgbClr val="87C7FF">
                <a:alpha val="62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34640" y="5495544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CREDENTIALS</a:t>
            </a:r>
            <a:endParaRPr lang="en-US" sz="620" dirty="0"/>
          </a:p>
        </p:txBody>
      </p:sp>
      <p:sp>
        <p:nvSpPr>
          <p:cNvPr id="13" name="Shape 9"/>
          <p:cNvSpPr/>
          <p:nvPr/>
        </p:nvSpPr>
        <p:spPr>
          <a:xfrm>
            <a:off x="4462272" y="5468112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BBA0FF">
              <a:alpha val="12000"/>
            </a:srgbClr>
          </a:solidFill>
          <a:ln w="8890">
            <a:solidFill>
              <a:srgbClr val="BBA0FF">
                <a:alpha val="62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35424" y="549554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BBA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TERMINAL ONBOARDING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6446520" y="539496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and roles are entered by people. Provider details are detected—never fabricated.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ORCHESTRATION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Presence becomes actionable.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members enter the plan by stable server-issued identity—not fragile display-name matching.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9788" y="2144268"/>
            <a:ext cx="7562088" cy="4279392"/>
          </a:xfrm>
          <a:prstGeom prst="rect">
            <a:avLst/>
          </a:prstGeom>
          <a:solidFill>
            <a:srgbClr val="0A0D0B"/>
          </a:solidFill>
          <a:ln w="10160">
            <a:solidFill>
              <a:srgbClr val="303834"/>
            </a:solidFill>
            <a:prstDash val="solid"/>
          </a:ln>
        </p:spPr>
      </p:sp>
      <p:pic>
        <p:nvPicPr>
          <p:cNvPr id="6" name="Image 0" descr="/home/infinity/Projects/Spidey-Sense-Buildathon/artifacts/spidey-sense-pitch/assets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176272"/>
            <a:ext cx="7498080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2359152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70D6AF">
              <a:alpha val="12000"/>
            </a:srgbClr>
          </a:solidFill>
          <a:ln w="8890">
            <a:solidFill>
              <a:srgbClr val="70D6AF">
                <a:alpha val="6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7072" y="238658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620" dirty="0"/>
          </a:p>
        </p:txBody>
      </p:sp>
      <p:sp>
        <p:nvSpPr>
          <p:cNvPr id="9" name="Text 6"/>
          <p:cNvSpPr/>
          <p:nvPr/>
        </p:nvSpPr>
        <p:spPr>
          <a:xfrm>
            <a:off x="854964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teammates become assignable immediately.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03920" y="3529584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87C7FF">
              <a:alpha val="12000"/>
            </a:srgbClr>
          </a:solidFill>
          <a:ln w="8890">
            <a:solidFill>
              <a:srgbClr val="87C7FF">
                <a:alpha val="6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77072" y="35570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8549640" y="3913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Mission, owner, state, file, and symbol stay editable.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03920" y="4700016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BBA0FF">
              <a:alpha val="12000"/>
            </a:srgbClr>
          </a:solidFill>
          <a:ln w="8890">
            <a:solidFill>
              <a:srgbClr val="BBA0FF">
                <a:alpha val="6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472744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BBA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8549640" y="508406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fixed people, paths, providers, or mission count.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GRAPH-POWERED EXPERIENCE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spatial map with an honesty layer.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nodes, source evidence, relation strands, and risk signals share one accessible SVG scene.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9788" y="2052828"/>
            <a:ext cx="11036808" cy="4654296"/>
          </a:xfrm>
          <a:prstGeom prst="rect">
            <a:avLst/>
          </a:prstGeom>
          <a:solidFill>
            <a:srgbClr val="0A0D0B"/>
          </a:solidFill>
          <a:ln w="10160">
            <a:solidFill>
              <a:srgbClr val="303834"/>
            </a:solidFill>
            <a:prstDash val="solid"/>
          </a:ln>
        </p:spPr>
      </p:sp>
      <p:pic>
        <p:nvPicPr>
          <p:cNvPr id="6" name="Image 0" descr="/home/infinity/Projects/Spidey-Sense-Buildathon/artifacts/spidey-sense-pitch/assets/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84832"/>
            <a:ext cx="109728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73568" y="1225296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70D6AF">
              <a:alpha val="12000"/>
            </a:srgbClr>
          </a:solidFill>
          <a:ln w="8890">
            <a:solidFill>
              <a:srgbClr val="70D6AF">
                <a:alpha val="6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25272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620" dirty="0"/>
          </a:p>
        </p:txBody>
      </p:sp>
      <p:sp>
        <p:nvSpPr>
          <p:cNvPr id="9" name="Shape 6"/>
          <p:cNvSpPr/>
          <p:nvPr/>
        </p:nvSpPr>
        <p:spPr>
          <a:xfrm>
            <a:off x="9144000" y="1225296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E8C273">
              <a:alpha val="12000"/>
            </a:srgbClr>
          </a:solidFill>
          <a:ln w="8890">
            <a:solidFill>
              <a:srgbClr val="E8C273">
                <a:alpha val="6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7152" y="125272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</a:t>
            </a:r>
            <a:endParaRPr lang="en-US" sz="620" dirty="0"/>
          </a:p>
        </p:txBody>
      </p:sp>
      <p:sp>
        <p:nvSpPr>
          <p:cNvPr id="11" name="Shape 8"/>
          <p:cNvSpPr/>
          <p:nvPr/>
        </p:nvSpPr>
        <p:spPr>
          <a:xfrm>
            <a:off x="10314432" y="1225296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FF5E76">
              <a:alpha val="12000"/>
            </a:srgbClr>
          </a:solidFill>
          <a:ln w="8890">
            <a:solidFill>
              <a:srgbClr val="FF5E76">
                <a:alpha val="6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87584" y="1252728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HardCoders_ repository evidence  •  Selectable nodes  •  Keyboard accessible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2 REQUIREMENT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changes the decision.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never turns an incomplete static relationship into a certain runtime claim.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27080" cy="868680"/>
          </a:xfrm>
          <a:prstGeom prst="rect">
            <a:avLst/>
          </a:prstGeom>
          <a:solidFill>
            <a:srgbClr val="080B09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24328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70D6AF">
              <a:alpha val="12000"/>
            </a:srgbClr>
          </a:solidFill>
          <a:ln w="8890">
            <a:solidFill>
              <a:srgbClr val="70D6AF">
                <a:alpha val="6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51760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242316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/ package / import-bound structural evidence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42432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support BLOCK when direct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73568" y="2468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source before merge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927080" cy="868680"/>
          </a:xfrm>
          <a:prstGeom prst="rect">
            <a:avLst/>
          </a:prstGeom>
          <a:solidFill>
            <a:srgbClr val="080B09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0332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8C273">
              <a:alpha val="12000"/>
            </a:srgbClr>
          </a:solidFill>
          <a:ln w="8890">
            <a:solidFill>
              <a:srgbClr val="E8C273">
                <a:alpha val="6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3075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423160" y="35478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Inferred, pattern, co-change, framework or test 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42432" y="3547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73568" y="35478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call sites + focused tests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489704"/>
            <a:ext cx="10927080" cy="868680"/>
          </a:xfrm>
          <a:prstGeom prst="rect">
            <a:avLst/>
          </a:prstGeom>
          <a:solidFill>
            <a:srgbClr val="080B09"/>
          </a:solidFill>
          <a:ln w="10160">
            <a:solidFill>
              <a:srgbClr val="5421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782312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FF5E76">
              <a:alpha val="12000"/>
            </a:srgbClr>
          </a:solidFill>
          <a:ln w="8890">
            <a:solidFill>
              <a:srgbClr val="FF5E76">
                <a:alpha val="6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80974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2423160" y="46268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snapshot, parser failure, dropped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42432" y="4626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— never certainty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73568" y="46268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registration + source/test verification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6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 OF EVIDENCE ≠ EVIDENCE OF INDEPENDENCE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PROOF, NOT SYNTHETIC CLAIMS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against HardCoders_.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production build analyzes the Anchor repository and preserves every detected limitation.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105156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44144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4,631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180" kern="0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 NODES</a:t>
            </a:r>
            <a:endParaRPr lang="en-US" sz="58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514600" cy="105156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44144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14,850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1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RELATIONS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514600" cy="105156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44144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217920" y="30175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180" kern="0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WARNING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8732520" y="2331720"/>
            <a:ext cx="2514600" cy="1051560"/>
          </a:xfrm>
          <a:prstGeom prst="rect">
            <a:avLst/>
          </a:prstGeom>
          <a:solidFill>
            <a:srgbClr val="0A0D0B"/>
          </a:solidFill>
          <a:ln w="10160">
            <a:solidFill>
              <a:srgbClr val="2930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7112" y="244144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915400" y="30175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spc="18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FAILURES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608076" y="3643884"/>
            <a:ext cx="6601968" cy="2642616"/>
          </a:xfrm>
          <a:prstGeom prst="rect">
            <a:avLst/>
          </a:prstGeom>
          <a:solidFill>
            <a:srgbClr val="0A0D0B"/>
          </a:solidFill>
          <a:ln w="10160">
            <a:solidFill>
              <a:srgbClr val="303834"/>
            </a:solidFill>
            <a:prstDash val="solid"/>
          </a:ln>
        </p:spPr>
      </p:sp>
      <p:pic>
        <p:nvPicPr>
          <p:cNvPr id="18" name="Image 0" descr="/home/infinity/Projects/Spidey-Sense-Buildathon/artifacts/spidey-sense-pitch/assets/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75888"/>
            <a:ext cx="6537960" cy="257860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479792" y="3675888"/>
            <a:ext cx="3767328" cy="2578608"/>
          </a:xfrm>
          <a:prstGeom prst="rect">
            <a:avLst/>
          </a:prstGeom>
          <a:solidFill>
            <a:srgbClr val="080B09"/>
          </a:solidFill>
          <a:ln w="10160">
            <a:solidFill>
              <a:srgbClr val="5421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3968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red matters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754112" y="4526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parser failures and dynamic behavior lower confidence globally. Spidey Sense surfaces that state, downgrades claims, and points to source/test verification.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54112" y="571500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FF5E76">
              <a:alpha val="12000"/>
            </a:srgbClr>
          </a:solidFill>
          <a:ln w="8890">
            <a:solidFill>
              <a:srgbClr val="FF5E76">
                <a:alpha val="6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7264" y="574243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spc="11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OVER THEATER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ARCHITECTURE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presence. Local code intelligence.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boundary is deliberate: team metadata can travel; repository analysis remains no-egress.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057400" cy="1417320"/>
          </a:xfrm>
          <a:prstGeom prst="rect">
            <a:avLst/>
          </a:prstGeom>
          <a:solidFill>
            <a:srgbClr val="080B09"/>
          </a:solidFill>
          <a:ln w="10160">
            <a:solidFill>
              <a:srgbClr val="87C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615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" y="309067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• identity • mission • blocker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3127248"/>
            <a:ext cx="731520" cy="0"/>
          </a:xfrm>
          <a:prstGeom prst="line">
            <a:avLst/>
          </a:prstGeom>
          <a:noFill/>
          <a:ln w="15240">
            <a:solidFill>
              <a:srgbClr val="29302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0" y="2423160"/>
            <a:ext cx="2468880" cy="1417320"/>
          </a:xfrm>
          <a:prstGeom prst="rect">
            <a:avLst/>
          </a:prstGeom>
          <a:solidFill>
            <a:srgbClr val="080B09"/>
          </a:solidFill>
          <a:ln w="10160">
            <a:solidFill>
              <a:srgbClr val="70D6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26151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COORDINATOR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21024" y="3090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tokens • heartbeat • SSE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0" y="3127248"/>
            <a:ext cx="594360" cy="0"/>
          </a:xfrm>
          <a:prstGeom prst="line">
            <a:avLst/>
          </a:prstGeom>
          <a:noFill/>
          <a:ln w="15240">
            <a:solidFill>
              <a:srgbClr val="29302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537960" y="2423160"/>
            <a:ext cx="2057400" cy="1417320"/>
          </a:xfrm>
          <a:prstGeom prst="rect">
            <a:avLst/>
          </a:prstGeom>
          <a:solidFill>
            <a:srgbClr val="080B09"/>
          </a:solidFill>
          <a:ln w="10160">
            <a:solidFill>
              <a:srgbClr val="BBA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2615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BA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ENTIRE GRAPH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84264" y="309067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snapshot • risk engine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595360" y="3127248"/>
            <a:ext cx="868680" cy="0"/>
          </a:xfrm>
          <a:prstGeom prst="line">
            <a:avLst/>
          </a:prstGeom>
          <a:noFill/>
          <a:ln w="15240">
            <a:solidFill>
              <a:srgbClr val="29302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64040" y="2423160"/>
            <a:ext cx="2057400" cy="1417320"/>
          </a:xfrm>
          <a:prstGeom prst="rect">
            <a:avLst/>
          </a:prstGeom>
          <a:solidFill>
            <a:srgbClr val="080B09"/>
          </a:solidFill>
          <a:ln w="10160">
            <a:solidFill>
              <a:srgbClr val="E8C2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0344" y="2615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10344" y="309067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inspection • focused tests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10835640" cy="1143000"/>
          </a:xfrm>
          <a:prstGeom prst="rect">
            <a:avLst/>
          </a:prstGeom>
          <a:solidFill>
            <a:srgbClr val="090B0A"/>
          </a:solidFill>
          <a:ln w="10160">
            <a:solidFill>
              <a:srgbClr val="303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553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4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TRANSMITTED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48840" y="45171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• role • mission • blocker • bounded activity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5010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COLLECTED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48840" y="49743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• reasoning • terminal • file contents • secrets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127.0.0.1 stays local. Cross-machine deployments require a reachable HTTPS origin or an explicitly controlled LAN binding.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Entire Graph Buildathon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46120"/>
            <a:ext cx="1965960" cy="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46120"/>
            <a:ext cx="1390144" cy="1390144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3246120"/>
            <a:ext cx="0" cy="196596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3246120"/>
            <a:ext cx="-1390144" cy="1390144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3246120"/>
            <a:ext cx="-1965960" cy="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3246120"/>
            <a:ext cx="-1390144" cy="-1390144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3246120"/>
            <a:ext cx="0" cy="-1965960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0" y="3246120"/>
            <a:ext cx="1390144" cy="-1390144"/>
          </a:xfrm>
          <a:prstGeom prst="line">
            <a:avLst/>
          </a:prstGeom>
          <a:noFill/>
          <a:ln w="7620">
            <a:solidFill>
              <a:srgbClr val="2A3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7172" y="2656332"/>
            <a:ext cx="1179576" cy="1179576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85682" y="2164842"/>
            <a:ext cx="2162556" cy="2162556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94192" y="1673352"/>
            <a:ext cx="3145536" cy="3145536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280160"/>
            <a:ext cx="3931920" cy="3931920"/>
          </a:xfrm>
          <a:prstGeom prst="ellipse">
            <a:avLst/>
          </a:prstGeom>
          <a:solidFill>
            <a:srgbClr val="050706">
              <a:alpha val="0"/>
            </a:srgbClr>
          </a:solidFill>
          <a:ln w="6350">
            <a:solidFill>
              <a:srgbClr val="252C28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02368" y="3081528"/>
            <a:ext cx="329184" cy="329184"/>
          </a:xfrm>
          <a:prstGeom prst="ellipse">
            <a:avLst/>
          </a:prstGeom>
          <a:solidFill>
            <a:srgbClr val="FF5E76"/>
          </a:solidFill>
          <a:ln w="12700">
            <a:solidFill>
              <a:srgbClr val="FF5E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0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80" kern="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21792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Don’t trust the map.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21792" y="19019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to verify faster.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D96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the complete loop live: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3649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7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" y="3337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room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803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0D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37764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from another browser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2428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BA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" y="4215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a live teammate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6817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C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" y="46542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Graph evidence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5120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" y="50932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and verify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5102352"/>
            <a:ext cx="5257800" cy="713232"/>
          </a:xfrm>
          <a:prstGeom prst="rect">
            <a:avLst/>
          </a:prstGeom>
          <a:solidFill>
            <a:srgbClr val="080B09"/>
          </a:solidFill>
          <a:ln w="10160">
            <a:solidFill>
              <a:srgbClr val="3443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5285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github.com/Preethesh16/entire-graph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605332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40" kern="0" dirty="0">
                <a:solidFill>
                  <a:srgbClr val="FF5E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SPIDEY SENSE  /  SEE THE COLLISION BEFORE IT LANDS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spc="130" kern="0" dirty="0">
                <a:solidFill>
                  <a:srgbClr val="62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HardCoders  •  Preethesh + team  •  Built with Entire Graph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550">
                <a:solidFill>
                  <a:srgbClr val="626A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HardCoders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Spidey Sense: Graph is evidence, not an oracle</dc:title>
  <dc:subject>Spidey Sense — Graph-powered engineering coordination</dc:subject>
  <dc:creator>HardCoders</dc:creator>
  <cp:lastModifiedBy>HardCoders</cp:lastModifiedBy>
  <cp:revision>1</cp:revision>
  <dcterms:created xsi:type="dcterms:W3CDTF">2026-09-06T09:28:55Z</dcterms:created>
  <dcterms:modified xsi:type="dcterms:W3CDTF">2026-09-06T09:28:55Z</dcterms:modified>
</cp:coreProperties>
</file>